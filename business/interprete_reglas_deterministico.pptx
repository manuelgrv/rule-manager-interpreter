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768663f22db4f0a" /><Relationship Type="http://schemas.openxmlformats.org/officeDocument/2006/relationships/extended-properties" Target="/docProps/app.xml" Id="Rb26b4edf41a64370" /><Relationship Type="http://schemas.openxmlformats.org/officeDocument/2006/relationships/officeDocument" Target="/ppt/presentation.xml" Id="Ra0ed1f9b903846c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40e58001f1540eb"/>
  </p:sldMasterIdLst>
  <p:notesMasterIdLst>
    <p:notesMasterId xmlns:r="http://schemas.openxmlformats.org/officeDocument/2006/relationships" r:id="R660b33d0aef04738"/>
  </p:notesMasterIdLst>
  <p:sldIdLst>
    <p:sldId xmlns:r="http://schemas.openxmlformats.org/officeDocument/2006/relationships" id="256" r:id="R83a34f22b7554d55"/>
    <p:sldId xmlns:r="http://schemas.openxmlformats.org/officeDocument/2006/relationships" id="257" r:id="R309f8fd304f349db"/>
    <p:sldId xmlns:r="http://schemas.openxmlformats.org/officeDocument/2006/relationships" id="258" r:id="Re038c5f1ba9d40a8"/>
    <p:sldId xmlns:r="http://schemas.openxmlformats.org/officeDocument/2006/relationships" id="259" r:id="Rb9f34971120149f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5482bdbe0b54041" /><Relationship Type="http://schemas.openxmlformats.org/officeDocument/2006/relationships/slideMaster" Target="/ppt/slideMasters/slideMaster1.xml" Id="Rb40e58001f1540eb" /><Relationship Type="http://schemas.openxmlformats.org/officeDocument/2006/relationships/notesMaster" Target="/ppt/notesMasters/notesMaster1.xml" Id="R660b33d0aef04738" /><Relationship Type="http://schemas.openxmlformats.org/officeDocument/2006/relationships/presProps" Target="/ppt/presProps.xml" Id="R5360788594204dd2" /><Relationship Type="http://schemas.openxmlformats.org/officeDocument/2006/relationships/tableStyles" Target="/ppt/tableStyles.xml" Id="Rff8be423f41b4546" /><Relationship Type="http://schemas.openxmlformats.org/officeDocument/2006/relationships/slide" Target="/ppt/slides/slide1.xml" Id="R83a34f22b7554d55" /><Relationship Type="http://schemas.openxmlformats.org/officeDocument/2006/relationships/slide" Target="/ppt/slides/slide2.xml" Id="R309f8fd304f349db" /><Relationship Type="http://schemas.openxmlformats.org/officeDocument/2006/relationships/slide" Target="/ppt/slides/slide3.xml" Id="Re038c5f1ba9d40a8" /><Relationship Type="http://schemas.openxmlformats.org/officeDocument/2006/relationships/slide" Target="/ppt/slides/slide4.xml" Id="Rb9f34971120149f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24e2e3e820e4da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3f6b31986ce42a0" /><Relationship Type="http://schemas.openxmlformats.org/officeDocument/2006/relationships/notesMaster" Target="/ppt/notesMasters/notesMaster1.xml" Id="Rd6ee3503c3c648c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26857fba9cf4287" /><Relationship Type="http://schemas.openxmlformats.org/officeDocument/2006/relationships/notesMaster" Target="/ppt/notesMasters/notesMaster1.xml" Id="R6e889dc3411b4ca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eb88d07e7244c11" /><Relationship Type="http://schemas.openxmlformats.org/officeDocument/2006/relationships/notesMaster" Target="/ppt/notesMasters/notesMaster1.xml" Id="Refc95fa7e289446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e0ebedd722f4d82" /><Relationship Type="http://schemas.openxmlformats.org/officeDocument/2006/relationships/notesMaster" Target="/ppt/notesMasters/notesMaster1.xml" Id="R8f5967e639554b0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Idea central: separar la asistencia de IA de la ejecución productiva.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 — diseño, validación y ejecución.</a:t>
            </a:r>
          </a:p>
          <a:p xmlns:a="http://schemas.openxmlformats.org/drawingml/2006/main">
            <a:r>
              <a:t>- notebooks/rule_manager_demo.ipynb — equivalencia entre lenguajes y motores.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 parser transforma AST de SQL o PySpark; el ejecutor recibe únicamente DSL validado.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 — arquitectura y representación intermedia.</a:t>
            </a:r>
          </a:p>
          <a:p xmlns:a="http://schemas.openxmlformats.org/drawingml/2006/main">
            <a:r>
              <a:t>- src/rule_interpreter/parsers/ y src/rule_interpreter/executors/ — implementación.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Lectura de negocio del ejemplo: se consultan clientes autorizados, se aplican simultáneamente los umbrales de ingreso y score, se limita la salida y se genera una decisión trazable.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 — catálogo, envelope DSL y plan relacional.</a:t>
            </a:r>
          </a:p>
          <a:p xmlns:a="http://schemas.openxmlformats.org/drawingml/2006/main">
            <a:r>
              <a:t>- src/rule_interpreter/dsl.py — versión e integridad SHA-256.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Los adapters implementan la misma semántica y declaran qué nodos soportan.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 — IR, nulos y capacidades.</a:t>
            </a:r>
          </a:p>
          <a:p xmlns:a="http://schemas.openxmlformats.org/drawingml/2006/main">
            <a:r>
              <a:t>- src/rule_interpreter/executors/ — renderers DuckDB y Spark.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2ee9527d93492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ffc822a9359473d" /><Relationship Type="http://schemas.openxmlformats.org/officeDocument/2006/relationships/slideLayout" Target="/ppt/slideLayouts/slideLayout1.xml" Id="R08b10e88ce144c9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8b10e88ce144c9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98ace3a60147a8" /><Relationship Type="http://schemas.openxmlformats.org/officeDocument/2006/relationships/notesSlide" Target="/ppt/notesSlides/notesSlide1.xml" Id="R1219122d13154ff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8d88847f8d4f6d" /><Relationship Type="http://schemas.openxmlformats.org/officeDocument/2006/relationships/notesSlide" Target="/ppt/notesSlides/notesSlide2.xml" Id="Rc3aa50bdd20c4cb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7c4cf6521c482f" /><Relationship Type="http://schemas.openxmlformats.org/officeDocument/2006/relationships/notesSlide" Target="/ppt/notesSlides/notesSlide3.xml" Id="R37c217d202cd45c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7e2b7bf15a4b94" /><Relationship Type="http://schemas.openxmlformats.org/officeDocument/2006/relationships/notesSlide" Target="/ppt/notesSlides/notesSlide4.xml" Id="R93f839d4cbaf4b3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itle-3">
            <a:extLst xmlns:a="http://schemas.openxmlformats.org/drawingml/2006/main">
              <a:ext uri="{FF2B5EF4-FFF2-40B4-BE49-F238E27FC236}">
                <a16:creationId xmlns:a16="http://schemas.microsoft.com/office/drawing/2014/main" id="{10437BF8-E79A-419D-AC0B-415271A3F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049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Beneficios: control, velocidad y menor costo</a:t>
            </a:r>
          </a:p>
        </p:txBody>
      </p:sp>
      <p:cxnSp>
        <p:nvCxnSpPr>
          <p:cNvPr id="24" name="rule-3"/>
          <p:cNvCxnSpPr/>
          <p:nvPr/>
        </p:nvCxnSpPr>
        <p:spPr>
          <a:xfrm xmlns:a="http://schemas.openxmlformats.org/drawingml/2006/main">
            <a:off x="400050" y="12382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" name="page-3">
            <a:extLst xmlns:a="http://schemas.openxmlformats.org/drawingml/2006/main">
              <a:ext uri="{FF2B5EF4-FFF2-40B4-BE49-F238E27FC236}">
                <a16:creationId xmlns:a16="http://schemas.microsoft.com/office/drawing/2014/main" id="{9A128AAE-3ED2-4ADB-99B9-465B90CFE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D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D6675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4" name="left-label">
            <a:extLst xmlns:a="http://schemas.openxmlformats.org/drawingml/2006/main">
              <a:ext uri="{FF2B5EF4-FFF2-40B4-BE49-F238E27FC236}">
                <a16:creationId xmlns:a16="http://schemas.microsoft.com/office/drawing/2014/main" id="{4C2844C1-B3D4-49D4-863F-EE13E3EFC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C43D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C43D4B"/>
                </a:solidFill>
                <a:latin typeface="Helvetica Neue"/>
                <a:ea typeface="Helvetica Neue"/>
                <a:cs typeface="Helvetica Neue"/>
              </a:rPr>
              <a:t>PARA EL NEGOCIO</a:t>
            </a:r>
          </a:p>
        </p:txBody>
      </p:sp>
      <p:sp>
        <p:nvSpPr>
          <p:cNvPr id="5" name="right-label">
            <a:extLst xmlns:a="http://schemas.openxmlformats.org/drawingml/2006/main">
              <a:ext uri="{FF2B5EF4-FFF2-40B4-BE49-F238E27FC236}">
                <a16:creationId xmlns:a16="http://schemas.microsoft.com/office/drawing/2014/main" id="{49A84052-03EF-49A2-AE58-1E4CC7D1A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19250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879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8794E"/>
                </a:solidFill>
                <a:latin typeface="Helvetica Neue"/>
                <a:ea typeface="Helvetica Neue"/>
                <a:cs typeface="Helvetica Neue"/>
              </a:rPr>
              <a:t>PARA TECNOLOGÍA Y RIESGO</a:t>
            </a:r>
          </a:p>
        </p:txBody>
      </p:sp>
      <p:sp>
        <p:nvSpPr>
          <p:cNvPr id="6" name="left-body">
            <a:extLst xmlns:a="http://schemas.openxmlformats.org/drawingml/2006/main">
              <a:ext uri="{FF2B5EF4-FFF2-40B4-BE49-F238E27FC236}">
                <a16:creationId xmlns:a16="http://schemas.microsoft.com/office/drawing/2014/main" id="{C7513969-60F6-4EE3-A951-254E1D149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5143500" cy="3295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F7"/>
          </a:solidFill>
          <a:ln xmlns:a="http://schemas.openxmlformats.org/drawingml/2006/main" w="9525">
            <a:solidFill>
              <a:srgbClr val="E8B4BA"/>
            </a:solidFill>
            <a:prstDash val="solid"/>
          </a:ln>
        </p:spPr>
      </p:sp>
      <p:sp>
        <p:nvSpPr>
          <p:cNvPr id="7" name="right-body">
            <a:extLst xmlns:a="http://schemas.openxmlformats.org/drawingml/2006/main">
              <a:ext uri="{FF2B5EF4-FFF2-40B4-BE49-F238E27FC236}">
                <a16:creationId xmlns:a16="http://schemas.microsoft.com/office/drawing/2014/main" id="{68706412-76B6-4C4A-94B7-AB6D86375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095500"/>
            <a:ext cx="5143500" cy="3295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AFE"/>
          </a:solidFill>
          <a:ln xmlns:a="http://schemas.openxmlformats.org/drawingml/2006/main" w="9525">
            <a:solidFill>
              <a:srgbClr val="A9D7BE"/>
            </a:solidFill>
            <a:prstDash val="solid"/>
          </a:ln>
        </p:spPr>
      </p:sp>
      <p:sp>
        <p:nvSpPr>
          <p:cNvPr id="8" name="l-0">
            <a:extLst xmlns:a="http://schemas.openxmlformats.org/drawingml/2006/main">
              <a:ext uri="{FF2B5EF4-FFF2-40B4-BE49-F238E27FC236}">
                <a16:creationId xmlns:a16="http://schemas.microsoft.com/office/drawing/2014/main" id="{6820389B-EF2C-4913-BCC7-D72DE7CEF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28875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D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D6675"/>
                </a:solidFill>
                <a:latin typeface="Helvetica Neue"/>
                <a:ea typeface="Helvetica Neue"/>
                <a:cs typeface="Helvetica Neue"/>
              </a:rPr>
              <a:t>✓  Cambios sin desplegar la aplicación</a:t>
            </a:r>
          </a:p>
        </p:txBody>
      </p:sp>
      <p:sp>
        <p:nvSpPr>
          <p:cNvPr id="9" name="l-1">
            <a:extLst xmlns:a="http://schemas.openxmlformats.org/drawingml/2006/main">
              <a:ext uri="{FF2B5EF4-FFF2-40B4-BE49-F238E27FC236}">
                <a16:creationId xmlns:a16="http://schemas.microsoft.com/office/drawing/2014/main" id="{6F69B4EE-CDAA-41F6-B728-36B526A94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7180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D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D6675"/>
                </a:solidFill>
                <a:latin typeface="Helvetica Neue"/>
                <a:ea typeface="Helvetica Neue"/>
                <a:cs typeface="Helvetica Neue"/>
              </a:rPr>
              <a:t>✓  Resultado reproducible</a:t>
            </a:r>
          </a:p>
        </p:txBody>
      </p:sp>
      <p:sp>
        <p:nvSpPr>
          <p:cNvPr id="10" name="l-2">
            <a:extLst xmlns:a="http://schemas.openxmlformats.org/drawingml/2006/main">
              <a:ext uri="{FF2B5EF4-FFF2-40B4-BE49-F238E27FC236}">
                <a16:creationId xmlns:a16="http://schemas.microsoft.com/office/drawing/2014/main" id="{8684580C-1BCB-4BA5-951C-D61848E75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14725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D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D6675"/>
                </a:solidFill>
                <a:latin typeface="Helvetica Neue"/>
                <a:ea typeface="Helvetica Neue"/>
                <a:cs typeface="Helvetica Neue"/>
              </a:rPr>
              <a:t>✓  Revisión antes de publicar</a:t>
            </a:r>
          </a:p>
        </p:txBody>
      </p:sp>
      <p:sp>
        <p:nvSpPr>
          <p:cNvPr id="11" name="l-3">
            <a:extLst xmlns:a="http://schemas.openxmlformats.org/drawingml/2006/main">
              <a:ext uri="{FF2B5EF4-FFF2-40B4-BE49-F238E27FC236}">
                <a16:creationId xmlns:a16="http://schemas.microsoft.com/office/drawing/2014/main" id="{07F61F59-9786-4058-854F-196304536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5765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D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D6675"/>
                </a:solidFill>
                <a:latin typeface="Helvetica Neue"/>
                <a:ea typeface="Helvetica Neue"/>
                <a:cs typeface="Helvetica Neue"/>
              </a:rPr>
              <a:t>✓  Auditoría por versión</a:t>
            </a:r>
          </a:p>
        </p:txBody>
      </p:sp>
      <p:sp>
        <p:nvSpPr>
          <p:cNvPr id="12" name="l-4">
            <a:extLst xmlns:a="http://schemas.openxmlformats.org/drawingml/2006/main">
              <a:ext uri="{FF2B5EF4-FFF2-40B4-BE49-F238E27FC236}">
                <a16:creationId xmlns:a16="http://schemas.microsoft.com/office/drawing/2014/main" id="{9E444FF5-A745-4D2C-80E1-7E25F4CF6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00575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D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D6675"/>
                </a:solidFill>
                <a:latin typeface="Helvetica Neue"/>
                <a:ea typeface="Helvetica Neue"/>
                <a:cs typeface="Helvetica Neue"/>
              </a:rPr>
              <a:t>✓  IA fuera de la ruta crítica</a:t>
            </a:r>
          </a:p>
        </p:txBody>
      </p:sp>
      <p:sp>
        <p:nvSpPr>
          <p:cNvPr id="13" name="r-0">
            <a:extLst xmlns:a="http://schemas.openxmlformats.org/drawingml/2006/main">
              <a:ext uri="{FF2B5EF4-FFF2-40B4-BE49-F238E27FC236}">
                <a16:creationId xmlns:a16="http://schemas.microsoft.com/office/drawing/2014/main" id="{64A97130-B120-485F-B8A5-39EECC14C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28875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879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8794E"/>
                </a:solidFill>
                <a:latin typeface="Helvetica Neue"/>
                <a:ea typeface="Helvetica Neue"/>
                <a:cs typeface="Helvetica Neue"/>
              </a:rPr>
              <a:t>✓  Un IR común para SQL y PySpark</a:t>
            </a:r>
          </a:p>
        </p:txBody>
      </p:sp>
      <p:sp>
        <p:nvSpPr>
          <p:cNvPr id="14" name="r-1">
            <a:extLst xmlns:a="http://schemas.openxmlformats.org/drawingml/2006/main">
              <a:ext uri="{FF2B5EF4-FFF2-40B4-BE49-F238E27FC236}">
                <a16:creationId xmlns:a16="http://schemas.microsoft.com/office/drawing/2014/main" id="{2ED6340E-BC9B-4EEE-852D-D42BFED34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97180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879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8794E"/>
                </a:solidFill>
                <a:latin typeface="Helvetica Neue"/>
                <a:ea typeface="Helvetica Neue"/>
                <a:cs typeface="Helvetica Neue"/>
              </a:rPr>
              <a:t>✓  Ejecución en DuckDB y Spark</a:t>
            </a:r>
          </a:p>
        </p:txBody>
      </p:sp>
      <p:sp>
        <p:nvSpPr>
          <p:cNvPr id="15" name="r-2">
            <a:extLst xmlns:a="http://schemas.openxmlformats.org/drawingml/2006/main">
              <a:ext uri="{FF2B5EF4-FFF2-40B4-BE49-F238E27FC236}">
                <a16:creationId xmlns:a16="http://schemas.microsoft.com/office/drawing/2014/main" id="{189B8CEE-CC62-4EEB-8366-450FB73B5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514725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✓  Catálogo limita datos y columnas</a:t>
            </a:r>
          </a:p>
        </p:txBody>
      </p:sp>
      <p:sp>
        <p:nvSpPr>
          <p:cNvPr id="16" name="r-3">
            <a:extLst xmlns:a="http://schemas.openxmlformats.org/drawingml/2006/main">
              <a:ext uri="{FF2B5EF4-FFF2-40B4-BE49-F238E27FC236}">
                <a16:creationId xmlns:a16="http://schemas.microsoft.com/office/drawing/2014/main" id="{F15DFB85-45D0-40F9-A23D-403DDA10A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5765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✓  Pruebas comparan ambos motores</a:t>
            </a:r>
          </a:p>
        </p:txBody>
      </p:sp>
      <p:sp>
        <p:nvSpPr>
          <p:cNvPr id="17" name="r-4">
            <a:extLst xmlns:a="http://schemas.openxmlformats.org/drawingml/2006/main">
              <a:ext uri="{FF2B5EF4-FFF2-40B4-BE49-F238E27FC236}">
                <a16:creationId xmlns:a16="http://schemas.microsoft.com/office/drawing/2014/main" id="{179D6E42-EAFA-4E57-9F03-50EF690FB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600575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✓  Sin inferencia recurrente</a:t>
            </a:r>
          </a:p>
        </p:txBody>
      </p:sp>
      <p:sp>
        <p:nvSpPr>
          <p:cNvPr id="18" name="decision">
            <a:extLst xmlns:a="http://schemas.openxmlformats.org/drawingml/2006/main">
              <a:ext uri="{FF2B5EF4-FFF2-40B4-BE49-F238E27FC236}">
                <a16:creationId xmlns:a16="http://schemas.microsoft.com/office/drawing/2014/main" id="{BC45AC53-90AE-4DF4-A56A-5C3E8AC15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62625"/>
            <a:ext cx="1095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436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La IA acelera la autoría; el DSL conserva el control de producción.</a:t>
            </a:r>
          </a:p>
        </p:txBody>
      </p:sp>
    </p:spTree>
    <p:extLst>
      <p:ext uri="{BB962C8B-B14F-4D97-AF65-F5344CB8AC3E}">
        <p14:creationId xmlns:p14="http://schemas.microsoft.com/office/powerpoint/2010/main" val="167989184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itle-4">
            <a:extLst xmlns:a="http://schemas.openxmlformats.org/drawingml/2006/main">
              <a:ext uri="{FF2B5EF4-FFF2-40B4-BE49-F238E27FC236}">
                <a16:creationId xmlns:a16="http://schemas.microsoft.com/office/drawing/2014/main" id="{BEF3C1CF-D57C-47D4-A0F1-56EFE58D9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049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Flujo: del código aprobado a la ejecución</a:t>
            </a:r>
          </a:p>
        </p:txBody>
      </p:sp>
      <p:cxnSp>
        <p:nvCxnSpPr>
          <p:cNvPr id="27" name="rule-4"/>
          <p:cNvCxnSpPr/>
          <p:nvPr/>
        </p:nvCxnSpPr>
        <p:spPr>
          <a:xfrm xmlns:a="http://schemas.openxmlformats.org/drawingml/2006/main">
            <a:off x="400050" y="12382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" name="page-4">
            <a:extLst xmlns:a="http://schemas.openxmlformats.org/drawingml/2006/main">
              <a:ext uri="{FF2B5EF4-FFF2-40B4-BE49-F238E27FC236}">
                <a16:creationId xmlns:a16="http://schemas.microsoft.com/office/drawing/2014/main" id="{5BCB5E43-30E5-4563-AB71-48B7B10D2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D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D6675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4" name="arrow-0">
            <a:extLst xmlns:a="http://schemas.openxmlformats.org/drawingml/2006/main">
              <a:ext uri="{FF2B5EF4-FFF2-40B4-BE49-F238E27FC236}">
                <a16:creationId xmlns:a16="http://schemas.microsoft.com/office/drawing/2014/main" id="{9D804BB6-20CE-434F-A526-4B2F378FA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2762250"/>
            <a:ext cx="60960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5" name="arrow-1">
            <a:extLst xmlns:a="http://schemas.openxmlformats.org/drawingml/2006/main">
              <a:ext uri="{FF2B5EF4-FFF2-40B4-BE49-F238E27FC236}">
                <a16:creationId xmlns:a16="http://schemas.microsoft.com/office/drawing/2014/main" id="{5C9C648F-D2ED-45CE-B8BA-2C20A73D4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762250"/>
            <a:ext cx="60960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6" name="arrow-2">
            <a:extLst xmlns:a="http://schemas.openxmlformats.org/drawingml/2006/main">
              <a:ext uri="{FF2B5EF4-FFF2-40B4-BE49-F238E27FC236}">
                <a16:creationId xmlns:a16="http://schemas.microsoft.com/office/drawing/2014/main" id="{1E2256DB-64D0-43FE-81B4-0EAA96138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2762250"/>
            <a:ext cx="60960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7" name="arrow-3">
            <a:extLst xmlns:a="http://schemas.openxmlformats.org/drawingml/2006/main">
              <a:ext uri="{FF2B5EF4-FFF2-40B4-BE49-F238E27FC236}">
                <a16:creationId xmlns:a16="http://schemas.microsoft.com/office/drawing/2014/main" id="{B86E1869-DF84-4B9B-99AE-271124607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762250"/>
            <a:ext cx="60960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8" name="node-0">
            <a:extLst xmlns:a="http://schemas.openxmlformats.org/drawingml/2006/main">
              <a:ext uri="{FF2B5EF4-FFF2-40B4-BE49-F238E27FC236}">
                <a16:creationId xmlns:a16="http://schemas.microsoft.com/office/drawing/2014/main" id="{36364C0A-A323-4FFF-980B-1CD2B14F6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190750"/>
            <a:ext cx="15621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node-text-0">
            <a:extLst xmlns:a="http://schemas.openxmlformats.org/drawingml/2006/main">
              <a:ext uri="{FF2B5EF4-FFF2-40B4-BE49-F238E27FC236}">
                <a16:creationId xmlns:a16="http://schemas.microsoft.com/office/drawing/2014/main" id="{7AC11F74-1A6A-49C2-B4BF-D524E78A3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33650"/>
            <a:ext cx="1409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SQL o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PySpark</a:t>
            </a:r>
          </a:p>
        </p:txBody>
      </p:sp>
      <p:sp>
        <p:nvSpPr>
          <p:cNvPr id="10" name="node-1">
            <a:extLst xmlns:a="http://schemas.openxmlformats.org/drawingml/2006/main">
              <a:ext uri="{FF2B5EF4-FFF2-40B4-BE49-F238E27FC236}">
                <a16:creationId xmlns:a16="http://schemas.microsoft.com/office/drawing/2014/main" id="{B2A30E50-F18B-4A6C-BF3B-8E517358F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190750"/>
            <a:ext cx="15621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node-text-1">
            <a:extLst xmlns:a="http://schemas.openxmlformats.org/drawingml/2006/main">
              <a:ext uri="{FF2B5EF4-FFF2-40B4-BE49-F238E27FC236}">
                <a16:creationId xmlns:a16="http://schemas.microsoft.com/office/drawing/2014/main" id="{3BD3EA9E-8674-4405-AF91-5E1EAC308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533650"/>
            <a:ext cx="1409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Parser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AST</a:t>
            </a:r>
          </a:p>
        </p:txBody>
      </p:sp>
      <p:sp>
        <p:nvSpPr>
          <p:cNvPr id="12" name="node-2">
            <a:extLst xmlns:a="http://schemas.openxmlformats.org/drawingml/2006/main">
              <a:ext uri="{FF2B5EF4-FFF2-40B4-BE49-F238E27FC236}">
                <a16:creationId xmlns:a16="http://schemas.microsoft.com/office/drawing/2014/main" id="{93D16C9B-BFFD-40AD-8EF3-4D8E6E33B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190750"/>
            <a:ext cx="15621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node-text-2">
            <a:extLst xmlns:a="http://schemas.openxmlformats.org/drawingml/2006/main">
              <a:ext uri="{FF2B5EF4-FFF2-40B4-BE49-F238E27FC236}">
                <a16:creationId xmlns:a16="http://schemas.microsoft.com/office/drawing/2014/main" id="{40020330-EDF1-487E-BB8D-C4CFFB537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533650"/>
            <a:ext cx="1409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Validación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semántica</a:t>
            </a:r>
          </a:p>
        </p:txBody>
      </p:sp>
      <p:sp>
        <p:nvSpPr>
          <p:cNvPr id="14" name="node-3">
            <a:extLst xmlns:a="http://schemas.openxmlformats.org/drawingml/2006/main">
              <a:ext uri="{FF2B5EF4-FFF2-40B4-BE49-F238E27FC236}">
                <a16:creationId xmlns:a16="http://schemas.microsoft.com/office/drawing/2014/main" id="{E706F13E-DB54-479D-932C-D8DEF4023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190750"/>
            <a:ext cx="15621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5" name="node-text-3">
            <a:extLst xmlns:a="http://schemas.openxmlformats.org/drawingml/2006/main">
              <a:ext uri="{FF2B5EF4-FFF2-40B4-BE49-F238E27FC236}">
                <a16:creationId xmlns:a16="http://schemas.microsoft.com/office/drawing/2014/main" id="{313B2142-240C-4A17-8BD9-7A50CF41B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533650"/>
            <a:ext cx="1409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DSL JSON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versionado</a:t>
            </a:r>
          </a:p>
        </p:txBody>
      </p:sp>
      <p:sp>
        <p:nvSpPr>
          <p:cNvPr id="16" name="node-4">
            <a:extLst xmlns:a="http://schemas.openxmlformats.org/drawingml/2006/main">
              <a:ext uri="{FF2B5EF4-FFF2-40B4-BE49-F238E27FC236}">
                <a16:creationId xmlns:a16="http://schemas.microsoft.com/office/drawing/2014/main" id="{8EA69E74-9936-4122-9397-D5F8B4A19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190750"/>
            <a:ext cx="15621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node-text-4">
            <a:extLst xmlns:a="http://schemas.openxmlformats.org/drawingml/2006/main">
              <a:ext uri="{FF2B5EF4-FFF2-40B4-BE49-F238E27FC236}">
                <a16:creationId xmlns:a16="http://schemas.microsoft.com/office/drawing/2014/main" id="{580CDBB2-8328-475B-8997-82B13B86D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533650"/>
            <a:ext cx="1409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DuckDB o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Spark</a:t>
            </a:r>
          </a:p>
        </p:txBody>
      </p:sp>
      <p:sp>
        <p:nvSpPr>
          <p:cNvPr id="18" name="control-a">
            <a:extLst xmlns:a="http://schemas.openxmlformats.org/drawingml/2006/main">
              <a:ext uri="{FF2B5EF4-FFF2-40B4-BE49-F238E27FC236}">
                <a16:creationId xmlns:a16="http://schemas.microsoft.com/office/drawing/2014/main" id="{103FDDF0-0497-42C5-8939-1A6CF46A7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0957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Catálogo</a:t>
            </a:r>
          </a:p>
        </p:txBody>
      </p:sp>
      <p:sp>
        <p:nvSpPr>
          <p:cNvPr id="19" name="control-b">
            <a:extLst xmlns:a="http://schemas.openxmlformats.org/drawingml/2006/main">
              <a:ext uri="{FF2B5EF4-FFF2-40B4-BE49-F238E27FC236}">
                <a16:creationId xmlns:a16="http://schemas.microsoft.com/office/drawing/2014/main" id="{8E6B82E5-70C9-48D9-9FFF-AD7BD571A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0957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Tipos y nulos</a:t>
            </a:r>
          </a:p>
        </p:txBody>
      </p:sp>
      <p:sp>
        <p:nvSpPr>
          <p:cNvPr id="20" name="control-c">
            <a:extLst xmlns:a="http://schemas.openxmlformats.org/drawingml/2006/main">
              <a:ext uri="{FF2B5EF4-FFF2-40B4-BE49-F238E27FC236}">
                <a16:creationId xmlns:a16="http://schemas.microsoft.com/office/drawing/2014/main" id="{8D843B19-CCDC-4467-AD75-E9F5F50D3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0957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Integridad</a:t>
            </a:r>
          </a:p>
        </p:txBody>
      </p:sp>
      <p:sp>
        <p:nvSpPr>
          <p:cNvPr id="21" name="architecture-callout">
            <a:extLst xmlns:a="http://schemas.openxmlformats.org/drawingml/2006/main">
              <a:ext uri="{FF2B5EF4-FFF2-40B4-BE49-F238E27FC236}">
                <a16:creationId xmlns:a16="http://schemas.microsoft.com/office/drawing/2014/main" id="{585A0121-8583-4117-A1C6-017E1ED91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857750"/>
            <a:ext cx="838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97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El código original no llega al ejecutor: solo llega un plan validado con operaciones conocidas.</a:t>
            </a:r>
          </a:p>
        </p:txBody>
      </p:sp>
    </p:spTree>
    <p:extLst>
      <p:ext uri="{BB962C8B-B14F-4D97-AF65-F5344CB8AC3E}">
        <p14:creationId xmlns:p14="http://schemas.microsoft.com/office/powerpoint/2010/main" val="19199418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itle-5">
            <a:extLst xmlns:a="http://schemas.openxmlformats.org/drawingml/2006/main">
              <a:ext uri="{FF2B5EF4-FFF2-40B4-BE49-F238E27FC236}">
                <a16:creationId xmlns:a16="http://schemas.microsoft.com/office/drawing/2014/main" id="{743C67E1-635D-4021-AAE9-F683FC90A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049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DSL (1/2): una regla de crédito en datos</a:t>
            </a:r>
          </a:p>
        </p:txBody>
      </p:sp>
      <p:cxnSp>
        <p:nvCxnSpPr>
          <p:cNvPr id="46" name="rule-5"/>
          <p:cNvCxnSpPr/>
          <p:nvPr/>
        </p:nvCxnSpPr>
        <p:spPr>
          <a:xfrm xmlns:a="http://schemas.openxmlformats.org/drawingml/2006/main">
            <a:off x="400050" y="12382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" name="page-5">
            <a:extLst xmlns:a="http://schemas.openxmlformats.org/drawingml/2006/main">
              <a:ext uri="{FF2B5EF4-FFF2-40B4-BE49-F238E27FC236}">
                <a16:creationId xmlns:a16="http://schemas.microsoft.com/office/drawing/2014/main" id="{784E9DA9-E4A3-472F-AA38-770FD4D0F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D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D6675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4" name="json-panel">
            <a:extLst xmlns:a="http://schemas.openxmlformats.org/drawingml/2006/main">
              <a:ext uri="{FF2B5EF4-FFF2-40B4-BE49-F238E27FC236}">
                <a16:creationId xmlns:a16="http://schemas.microsoft.com/office/drawing/2014/main" id="{E7D58C45-5EB4-4F6E-B7D3-75EFBB4DD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5715000" cy="4210050"/>
          </a:xfrm>
          <a:prstGeom xmlns:a="http://schemas.openxmlformats.org/drawingml/2006/main" prst="roundRect">
            <a:avLst>
              <a:gd name="adj" fmla="val 1810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5" name="json">
            <a:extLst xmlns:a="http://schemas.openxmlformats.org/drawingml/2006/main">
              <a:ext uri="{FF2B5EF4-FFF2-40B4-BE49-F238E27FC236}">
                <a16:creationId xmlns:a16="http://schemas.microsoft.com/office/drawing/2014/main" id="{2C0D37E1-7C4D-4B48-BD14-15C67B21B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514350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46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E5F4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E5F4FF"/>
                </a:solidFill>
                <a:latin typeface="Helvetica Neue"/>
                <a:ea typeface="Helvetica Neue"/>
                <a:cs typeface="Helvetica Neue"/>
              </a:rPr>
              <a:t>{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E5F4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E5F4FF"/>
                </a:solidFill>
                <a:latin typeface="Helvetica Neue"/>
                <a:ea typeface="Helvetica Neue"/>
                <a:cs typeface="Helvetica Neue"/>
              </a:rPr>
              <a:t> "dsl_version": "1.0",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E5F4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E5F4FF"/>
                </a:solidFill>
                <a:latin typeface="Helvetica Neue"/>
                <a:ea typeface="Helvetica Neue"/>
                <a:cs typeface="Helvetica Neue"/>
              </a:rPr>
              <a:t> "rule": { "id": "credit-policy" },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E5F4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E5F4FF"/>
                </a:solidFill>
                <a:latin typeface="Helvetica Neue"/>
                <a:ea typeface="Helvetica Neue"/>
                <a:cs typeface="Helvetica Neue"/>
              </a:rPr>
              <a:t> "inputs": [{ "source": "clients" }],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E5F4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E5F4FF"/>
                </a:solidFill>
                <a:latin typeface="Helvetica Neue"/>
                <a:ea typeface="Helvetica Neue"/>
                <a:cs typeface="Helvetica Neue"/>
              </a:rPr>
              <a:t> "plan": {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E5F4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E5F4FF"/>
                </a:solidFill>
                <a:latin typeface="Helvetica Neue"/>
                <a:ea typeface="Helvetica Neue"/>
                <a:cs typeface="Helvetica Neue"/>
              </a:rPr>
              <a:t>  "op": "project",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E5F4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E5F4FF"/>
                </a:solidFill>
                <a:latin typeface="Helvetica Neue"/>
                <a:ea typeface="Helvetica Neue"/>
                <a:cs typeface="Helvetica Neue"/>
              </a:rPr>
              <a:t>  "input": {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E5F4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E5F4FF"/>
                </a:solidFill>
                <a:latin typeface="Helvetica Neue"/>
                <a:ea typeface="Helvetica Neue"/>
                <a:cs typeface="Helvetica Neue"/>
              </a:rPr>
              <a:t>   "op": "filter",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E5F4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E5F4FF"/>
                </a:solidFill>
                <a:latin typeface="Helvetica Neue"/>
                <a:ea typeface="Helvetica Neue"/>
                <a:cs typeface="Helvetica Neue"/>
              </a:rPr>
              <a:t>   "input": { "op": "scan",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E5F4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E5F4FF"/>
                </a:solidFill>
                <a:latin typeface="Helvetica Neue"/>
                <a:ea typeface="Helvetica Neue"/>
                <a:cs typeface="Helvetica Neue"/>
              </a:rPr>
              <a:t>              "source": "clients" },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E5F4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E5F4FF"/>
                </a:solidFill>
                <a:latin typeface="Helvetica Neue"/>
                <a:ea typeface="Helvetica Neue"/>
                <a:cs typeface="Helvetica Neue"/>
              </a:rPr>
              <a:t>   "where": { "op": "and", "args": [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E5F4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E5F4FF"/>
                </a:solidFill>
                <a:latin typeface="Helvetica Neue"/>
                <a:ea typeface="Helvetica Neue"/>
                <a:cs typeface="Helvetica Neue"/>
              </a:rPr>
              <a:t>    { "op": "gte", "column": "income",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E5F4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E5F4FF"/>
                </a:solidFill>
                <a:latin typeface="Helvetica Neue"/>
                <a:ea typeface="Helvetica Neue"/>
                <a:cs typeface="Helvetica Neue"/>
              </a:rPr>
              <a:t>      "value": 3000 },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E5F4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E5F4FF"/>
                </a:solidFill>
                <a:latin typeface="Helvetica Neue"/>
                <a:ea typeface="Helvetica Neue"/>
                <a:cs typeface="Helvetica Neue"/>
              </a:rPr>
              <a:t>    { "op": "gte", "column": "credit_score",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E5F4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E5F4FF"/>
                </a:solidFill>
                <a:latin typeface="Helvetica Neue"/>
                <a:ea typeface="Helvetica Neue"/>
                <a:cs typeface="Helvetica Neue"/>
              </a:rPr>
              <a:t>      "value": 650 }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E5F4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E5F4FF"/>
                </a:solidFill>
                <a:latin typeface="Helvetica Neue"/>
                <a:ea typeface="Helvetica Neue"/>
                <a:cs typeface="Helvetica Neue"/>
              </a:rPr>
              <a:t>   ]}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E5F4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E5F4FF"/>
                </a:solidFill>
                <a:latin typeface="Helvetica Neue"/>
                <a:ea typeface="Helvetica Neue"/>
                <a:cs typeface="Helvetica Neue"/>
              </a:rPr>
              <a:t>  },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E5F4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E5F4FF"/>
                </a:solidFill>
                <a:latin typeface="Helvetica Neue"/>
                <a:ea typeface="Helvetica Neue"/>
                <a:cs typeface="Helvetica Neue"/>
              </a:rPr>
              <a:t>  "columns": ["client_id", "income",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E5F4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E5F4FF"/>
                </a:solidFill>
                <a:latin typeface="Helvetica Neue"/>
                <a:ea typeface="Helvetica Neue"/>
                <a:cs typeface="Helvetica Neue"/>
              </a:rPr>
              <a:t>   { "as": "decision", "expr": { "op": "case",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E5F4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E5F4FF"/>
                </a:solidFill>
                <a:latin typeface="Helvetica Neue"/>
                <a:ea typeface="Helvetica Neue"/>
                <a:cs typeface="Helvetica Neue"/>
              </a:rPr>
              <a:t>     "when": "eligible", "then": "APPROVE",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E5F4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E5F4FF"/>
                </a:solidFill>
                <a:latin typeface="Helvetica Neue"/>
                <a:ea typeface="Helvetica Neue"/>
                <a:cs typeface="Helvetica Neue"/>
              </a:rPr>
              <a:t>     "else": "REVIEW" }}]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E5F4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E5F4FF"/>
                </a:solidFill>
                <a:latin typeface="Helvetica Neue"/>
                <a:ea typeface="Helvetica Neue"/>
                <a:cs typeface="Helvetica Neue"/>
              </a:rPr>
              <a:t> },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E5F4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E5F4FF"/>
                </a:solidFill>
                <a:latin typeface="Helvetica Neue"/>
                <a:ea typeface="Helvetica Neue"/>
                <a:cs typeface="Helvetica Neue"/>
              </a:rPr>
              <a:t> "integrity": { "algorithm": "sha256" }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E5F4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E5F4FF"/>
                </a:solidFill>
                <a:latin typeface="Helvetica Neue"/>
                <a:ea typeface="Helvetica Neue"/>
                <a:cs typeface="Helvetica Neue"/>
              </a:rPr>
              <a:t>}</a:t>
            </a:r>
          </a:p>
        </p:txBody>
      </p:sp>
      <p:sp>
        <p:nvSpPr>
          <p:cNvPr id="6" name="dsl-h-0">
            <a:extLst xmlns:a="http://schemas.openxmlformats.org/drawingml/2006/main">
              <a:ext uri="{FF2B5EF4-FFF2-40B4-BE49-F238E27FC236}">
                <a16:creationId xmlns:a16="http://schemas.microsoft.com/office/drawing/2014/main" id="{7283FDB2-AF0D-4B82-A74D-11C8A8F6C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68592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SCAN</a:t>
            </a:r>
          </a:p>
        </p:txBody>
      </p:sp>
      <p:sp>
        <p:nvSpPr>
          <p:cNvPr id="7" name="dsl-b-0">
            <a:extLst xmlns:a="http://schemas.openxmlformats.org/drawingml/2006/main">
              <a:ext uri="{FF2B5EF4-FFF2-40B4-BE49-F238E27FC236}">
                <a16:creationId xmlns:a16="http://schemas.microsoft.com/office/drawing/2014/main" id="{E053354C-DB0A-4364-8B4D-237103358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685925"/>
            <a:ext cx="314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D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D6675"/>
                </a:solidFill>
                <a:latin typeface="Helvetica Neue"/>
                <a:ea typeface="Helvetica Neue"/>
                <a:cs typeface="Helvetica Neue"/>
              </a:rPr>
              <a:t>Lee clientes desde una fuente autorizada del catálogo.</a:t>
            </a:r>
          </a:p>
        </p:txBody>
      </p:sp>
      <p:cxnSp>
        <p:nvCxnSpPr>
          <p:cNvPr id="52" name="dsl-line-0"/>
          <p:cNvCxnSpPr/>
          <p:nvPr/>
        </p:nvCxnSpPr>
        <p:spPr>
          <a:xfrm xmlns:a="http://schemas.openxmlformats.org/drawingml/2006/main">
            <a:off x="6610350" y="2495550"/>
            <a:ext cx="49911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9" name="dsl-h-1">
            <a:extLst xmlns:a="http://schemas.openxmlformats.org/drawingml/2006/main">
              <a:ext uri="{FF2B5EF4-FFF2-40B4-BE49-F238E27FC236}">
                <a16:creationId xmlns:a16="http://schemas.microsoft.com/office/drawing/2014/main" id="{F6DDC174-EA64-48D0-AB8C-CE52579D4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67652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FILTER + AND</a:t>
            </a:r>
          </a:p>
        </p:txBody>
      </p:sp>
      <p:sp>
        <p:nvSpPr>
          <p:cNvPr id="10" name="dsl-b-1">
            <a:extLst xmlns:a="http://schemas.openxmlformats.org/drawingml/2006/main">
              <a:ext uri="{FF2B5EF4-FFF2-40B4-BE49-F238E27FC236}">
                <a16:creationId xmlns:a16="http://schemas.microsoft.com/office/drawing/2014/main" id="{BB8CF394-5F66-49B6-978D-2576071CC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676525"/>
            <a:ext cx="314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D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D6675"/>
                </a:solidFill>
                <a:latin typeface="Helvetica Neue"/>
                <a:ea typeface="Helvetica Neue"/>
                <a:cs typeface="Helvetica Neue"/>
              </a:rPr>
              <a:t>Conserva ingresos ≥ 3.000 y score ≥ 650; los nulos no califican.</a:t>
            </a:r>
          </a:p>
        </p:txBody>
      </p:sp>
      <p:cxnSp>
        <p:nvCxnSpPr>
          <p:cNvPr id="55" name="dsl-line-1"/>
          <p:cNvCxnSpPr/>
          <p:nvPr/>
        </p:nvCxnSpPr>
        <p:spPr>
          <a:xfrm xmlns:a="http://schemas.openxmlformats.org/drawingml/2006/main">
            <a:off x="6610350" y="3486150"/>
            <a:ext cx="49911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2" name="dsl-h-2">
            <a:extLst xmlns:a="http://schemas.openxmlformats.org/drawingml/2006/main">
              <a:ext uri="{FF2B5EF4-FFF2-40B4-BE49-F238E27FC236}">
                <a16:creationId xmlns:a16="http://schemas.microsoft.com/office/drawing/2014/main" id="{93E57C4F-3F14-4030-B13D-582F94CB6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66712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PROJECT</a:t>
            </a:r>
          </a:p>
        </p:txBody>
      </p:sp>
      <p:sp>
        <p:nvSpPr>
          <p:cNvPr id="13" name="dsl-b-2">
            <a:extLst xmlns:a="http://schemas.openxmlformats.org/drawingml/2006/main">
              <a:ext uri="{FF2B5EF4-FFF2-40B4-BE49-F238E27FC236}">
                <a16:creationId xmlns:a16="http://schemas.microsoft.com/office/drawing/2014/main" id="{C4725A3F-4185-44FE-8750-67BC3C440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667125"/>
            <a:ext cx="314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D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D6675"/>
                </a:solidFill>
                <a:latin typeface="Helvetica Neue"/>
                <a:ea typeface="Helvetica Neue"/>
                <a:cs typeface="Helvetica Neue"/>
              </a:rPr>
              <a:t>Define exactamente los datos que recibirá el proceso de negocio.</a:t>
            </a:r>
          </a:p>
        </p:txBody>
      </p:sp>
      <p:cxnSp>
        <p:nvCxnSpPr>
          <p:cNvPr id="58" name="dsl-line-2"/>
          <p:cNvCxnSpPr/>
          <p:nvPr/>
        </p:nvCxnSpPr>
        <p:spPr>
          <a:xfrm xmlns:a="http://schemas.openxmlformats.org/drawingml/2006/main">
            <a:off x="6610350" y="4476750"/>
            <a:ext cx="49911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5" name="dsl-h-3">
            <a:extLst xmlns:a="http://schemas.openxmlformats.org/drawingml/2006/main">
              <a:ext uri="{FF2B5EF4-FFF2-40B4-BE49-F238E27FC236}">
                <a16:creationId xmlns:a16="http://schemas.microsoft.com/office/drawing/2014/main" id="{FFFC8E7B-B843-4032-84A9-28F839D2A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657725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CASE</a:t>
            </a:r>
          </a:p>
        </p:txBody>
      </p:sp>
      <p:sp>
        <p:nvSpPr>
          <p:cNvPr id="16" name="dsl-b-3">
            <a:extLst xmlns:a="http://schemas.openxmlformats.org/drawingml/2006/main">
              <a:ext uri="{FF2B5EF4-FFF2-40B4-BE49-F238E27FC236}">
                <a16:creationId xmlns:a16="http://schemas.microsoft.com/office/drawing/2014/main" id="{05E841B6-7FC1-4791-B9D8-BAD7E9356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657725"/>
            <a:ext cx="314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282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D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D6675"/>
                </a:solidFill>
                <a:latin typeface="Helvetica Neue"/>
                <a:ea typeface="Helvetica Neue"/>
                <a:cs typeface="Helvetica Neue"/>
              </a:rPr>
              <a:t>Asigna APPROVE al elegible y REVIEW al resto, de forma auditable.</a:t>
            </a:r>
          </a:p>
        </p:txBody>
      </p:sp>
    </p:spTree>
    <p:extLst>
      <p:ext uri="{BB962C8B-B14F-4D97-AF65-F5344CB8AC3E}">
        <p14:creationId xmlns:p14="http://schemas.microsoft.com/office/powerpoint/2010/main" val="132221011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itle-7">
            <a:extLst xmlns:a="http://schemas.openxmlformats.org/drawingml/2006/main">
              <a:ext uri="{FF2B5EF4-FFF2-40B4-BE49-F238E27FC236}">
                <a16:creationId xmlns:a16="http://schemas.microsoft.com/office/drawing/2014/main" id="{E935D438-217B-4E48-9A56-F35412311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049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DSL (2/2): estructura y semántica</a:t>
            </a:r>
          </a:p>
        </p:txBody>
      </p:sp>
      <p:cxnSp>
        <p:nvCxnSpPr>
          <p:cNvPr id="59" name="rule-7"/>
          <p:cNvCxnSpPr/>
          <p:nvPr/>
        </p:nvCxnSpPr>
        <p:spPr>
          <a:xfrm xmlns:a="http://schemas.openxmlformats.org/drawingml/2006/main">
            <a:off x="400050" y="12382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" name="page-7">
            <a:extLst xmlns:a="http://schemas.openxmlformats.org/drawingml/2006/main">
              <a:ext uri="{FF2B5EF4-FFF2-40B4-BE49-F238E27FC236}">
                <a16:creationId xmlns:a16="http://schemas.microsoft.com/office/drawing/2014/main" id="{0CEA1395-B382-4549-B5B5-D78AE4140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D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D6675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4" name="sec-num-0">
            <a:extLst xmlns:a="http://schemas.openxmlformats.org/drawingml/2006/main">
              <a:ext uri="{FF2B5EF4-FFF2-40B4-BE49-F238E27FC236}">
                <a16:creationId xmlns:a16="http://schemas.microsoft.com/office/drawing/2014/main" id="{063A270B-4A0E-4D44-8551-B4D79135C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76400"/>
            <a:ext cx="723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5" name="sec-head-0">
            <a:extLst xmlns:a="http://schemas.openxmlformats.org/drawingml/2006/main">
              <a:ext uri="{FF2B5EF4-FFF2-40B4-BE49-F238E27FC236}">
                <a16:creationId xmlns:a16="http://schemas.microsoft.com/office/drawing/2014/main" id="{DD130817-2FC8-4595-A988-045406DC2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67640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Nodos relacionales</a:t>
            </a:r>
          </a:p>
        </p:txBody>
      </p:sp>
      <p:sp>
        <p:nvSpPr>
          <p:cNvPr id="6" name="sec-body-0">
            <a:extLst xmlns:a="http://schemas.openxmlformats.org/drawingml/2006/main">
              <a:ext uri="{FF2B5EF4-FFF2-40B4-BE49-F238E27FC236}">
                <a16:creationId xmlns:a16="http://schemas.microsoft.com/office/drawing/2014/main" id="{9D284E7B-35B4-4482-AA3B-5692955EA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228850"/>
            <a:ext cx="4476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D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D6675"/>
                </a:solidFill>
                <a:latin typeface="Helvetica Neue"/>
                <a:ea typeface="Helvetica Neue"/>
                <a:cs typeface="Helvetica Neue"/>
              </a:rPr>
              <a:t>scan · join · filter · project · sort · limit</a:t>
            </a:r>
          </a:p>
        </p:txBody>
      </p:sp>
      <p:cxnSp>
        <p:nvCxnSpPr>
          <p:cNvPr id="64" name="sec-line-0"/>
          <p:cNvCxnSpPr/>
          <p:nvPr/>
        </p:nvCxnSpPr>
        <p:spPr>
          <a:xfrm xmlns:a="http://schemas.openxmlformats.org/drawingml/2006/main">
            <a:off x="400050" y="3257550"/>
            <a:ext cx="51435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8" name="sec-num-1">
            <a:extLst xmlns:a="http://schemas.openxmlformats.org/drawingml/2006/main">
              <a:ext uri="{FF2B5EF4-FFF2-40B4-BE49-F238E27FC236}">
                <a16:creationId xmlns:a16="http://schemas.microsoft.com/office/drawing/2014/main" id="{F0405238-92EB-403C-BE47-B21FED4AF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76400"/>
            <a:ext cx="723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9" name="sec-head-1">
            <a:extLst xmlns:a="http://schemas.openxmlformats.org/drawingml/2006/main">
              <a:ext uri="{FF2B5EF4-FFF2-40B4-BE49-F238E27FC236}">
                <a16:creationId xmlns:a16="http://schemas.microsoft.com/office/drawing/2014/main" id="{091A5DC2-DCA2-4EDD-8761-244956BA8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67640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Nodos de expresión</a:t>
            </a:r>
          </a:p>
        </p:txBody>
      </p:sp>
      <p:sp>
        <p:nvSpPr>
          <p:cNvPr id="10" name="sec-body-1">
            <a:extLst xmlns:a="http://schemas.openxmlformats.org/drawingml/2006/main">
              <a:ext uri="{FF2B5EF4-FFF2-40B4-BE49-F238E27FC236}">
                <a16:creationId xmlns:a16="http://schemas.microsoft.com/office/drawing/2014/main" id="{0AB4C4AB-CD53-44D8-B0AF-3287B2647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228850"/>
            <a:ext cx="4476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D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D6675"/>
                </a:solidFill>
                <a:latin typeface="Helvetica Neue"/>
                <a:ea typeface="Helvetica Neue"/>
                <a:cs typeface="Helvetica Neue"/>
              </a:rPr>
              <a:t>column · literal · compare · boolean · case · call</a:t>
            </a:r>
          </a:p>
        </p:txBody>
      </p:sp>
      <p:cxnSp>
        <p:nvCxnSpPr>
          <p:cNvPr id="68" name="sec-line-1"/>
          <p:cNvCxnSpPr/>
          <p:nvPr/>
        </p:nvCxnSpPr>
        <p:spPr>
          <a:xfrm xmlns:a="http://schemas.openxmlformats.org/drawingml/2006/main">
            <a:off x="6267450" y="3257550"/>
            <a:ext cx="51435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2" name="sec-num-2">
            <a:extLst xmlns:a="http://schemas.openxmlformats.org/drawingml/2006/main">
              <a:ext uri="{FF2B5EF4-FFF2-40B4-BE49-F238E27FC236}">
                <a16:creationId xmlns:a16="http://schemas.microsoft.com/office/drawing/2014/main" id="{DA5E9DF6-E19F-4D33-8BE8-9561E27AC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67150"/>
            <a:ext cx="723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3" name="sec-head-2">
            <a:extLst xmlns:a="http://schemas.openxmlformats.org/drawingml/2006/main">
              <a:ext uri="{FF2B5EF4-FFF2-40B4-BE49-F238E27FC236}">
                <a16:creationId xmlns:a16="http://schemas.microsoft.com/office/drawing/2014/main" id="{FC47034E-3BDE-493B-A90E-25F14752B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86715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Tipos y nulos</a:t>
            </a:r>
          </a:p>
        </p:txBody>
      </p:sp>
      <p:sp>
        <p:nvSpPr>
          <p:cNvPr id="14" name="sec-body-2">
            <a:extLst xmlns:a="http://schemas.openxmlformats.org/drawingml/2006/main">
              <a:ext uri="{FF2B5EF4-FFF2-40B4-BE49-F238E27FC236}">
                <a16:creationId xmlns:a16="http://schemas.microsoft.com/office/drawing/2014/main" id="{5B181442-83C1-4EC1-B401-A8E92A1EC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419600"/>
            <a:ext cx="4476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D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D6675"/>
                </a:solidFill>
                <a:latin typeface="Helvetica Neue"/>
                <a:ea typeface="Helvetica Neue"/>
                <a:cs typeface="Helvetica Neue"/>
              </a:rPr>
              <a:t>Tipos explícitos y lógica SQL de tres valores.</a:t>
            </a:r>
          </a:p>
        </p:txBody>
      </p:sp>
      <p:cxnSp>
        <p:nvCxnSpPr>
          <p:cNvPr id="72" name="sec-line-2"/>
          <p:cNvCxnSpPr/>
          <p:nvPr/>
        </p:nvCxnSpPr>
        <p:spPr>
          <a:xfrm xmlns:a="http://schemas.openxmlformats.org/drawingml/2006/main">
            <a:off x="400050" y="5448300"/>
            <a:ext cx="51435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6" name="sec-num-3">
            <a:extLst xmlns:a="http://schemas.openxmlformats.org/drawingml/2006/main">
              <a:ext uri="{FF2B5EF4-FFF2-40B4-BE49-F238E27FC236}">
                <a16:creationId xmlns:a16="http://schemas.microsoft.com/office/drawing/2014/main" id="{EF620D10-ED10-4136-B134-144528084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867150"/>
            <a:ext cx="723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7" name="sec-head-3">
            <a:extLst xmlns:a="http://schemas.openxmlformats.org/drawingml/2006/main">
              <a:ext uri="{FF2B5EF4-FFF2-40B4-BE49-F238E27FC236}">
                <a16:creationId xmlns:a16="http://schemas.microsoft.com/office/drawing/2014/main" id="{E87D181D-3E98-4CC3-BBF3-11CB43E6C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86715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Capacidades por backend</a:t>
            </a:r>
          </a:p>
        </p:txBody>
      </p:sp>
      <p:sp>
        <p:nvSpPr>
          <p:cNvPr id="18" name="sec-body-3">
            <a:extLst xmlns:a="http://schemas.openxmlformats.org/drawingml/2006/main">
              <a:ext uri="{FF2B5EF4-FFF2-40B4-BE49-F238E27FC236}">
                <a16:creationId xmlns:a16="http://schemas.microsoft.com/office/drawing/2014/main" id="{E51DF2C0-D4B5-4454-A117-E2A4F6057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419600"/>
            <a:ext cx="4476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D667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D6675"/>
                </a:solidFill>
                <a:latin typeface="Helvetica Neue"/>
                <a:ea typeface="Helvetica Neue"/>
                <a:cs typeface="Helvetica Neue"/>
              </a:rPr>
              <a:t>El plan falla antes de ejecutar si el motor no lo soporta.</a:t>
            </a:r>
          </a:p>
        </p:txBody>
      </p:sp>
      <p:cxnSp>
        <p:nvCxnSpPr>
          <p:cNvPr id="76" name="sec-line-3"/>
          <p:cNvCxnSpPr/>
          <p:nvPr/>
        </p:nvCxnSpPr>
        <p:spPr>
          <a:xfrm xmlns:a="http://schemas.openxmlformats.org/drawingml/2006/main">
            <a:off x="6267450" y="5448300"/>
            <a:ext cx="51435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</p:spTree>
    <p:extLst>
      <p:ext uri="{BB962C8B-B14F-4D97-AF65-F5344CB8AC3E}">
        <p14:creationId xmlns:p14="http://schemas.microsoft.com/office/powerpoint/2010/main" val="193340562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2026-08-19T12:51:44.5020000Z</dcterms:created>
  <dcterms:modified xsi:type="dcterms:W3CDTF">2026-08-19T12:51:44.5020000Z</dcterms:modified>
</coreProperties>
</file>