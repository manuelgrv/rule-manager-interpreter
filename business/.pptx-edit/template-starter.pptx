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113da870248cc" /><Relationship Type="http://schemas.openxmlformats.org/officeDocument/2006/relationships/extended-properties" Target="/docProps/app.xml" Id="R0c2b4d135abd4bfa" /><Relationship Type="http://schemas.openxmlformats.org/officeDocument/2006/relationships/officeDocument" Target="/ppt/presentation.xml" Id="R833d4f86ff56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ceead45c746f7"/>
  </p:sldMasterIdLst>
  <p:notesMasterIdLst>
    <p:notesMasterId xmlns:r="http://schemas.openxmlformats.org/officeDocument/2006/relationships" r:id="Rf3da50948b904761"/>
  </p:notesMasterIdLst>
  <p:sldIdLst>
    <p:sldId xmlns:r="http://schemas.openxmlformats.org/officeDocument/2006/relationships" id="256" r:id="R6b76a186350e47b3"/>
    <p:sldId xmlns:r="http://schemas.openxmlformats.org/officeDocument/2006/relationships" id="257" r:id="Rc82c592994b545f7"/>
    <p:sldId xmlns:r="http://schemas.openxmlformats.org/officeDocument/2006/relationships" id="258" r:id="Ref33a1753ed844e0"/>
    <p:sldId xmlns:r="http://schemas.openxmlformats.org/officeDocument/2006/relationships" id="259" r:id="R43f3ffaf00aa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5b881bd62f4d4c" /><Relationship Type="http://schemas.openxmlformats.org/officeDocument/2006/relationships/slideMaster" Target="/ppt/slideMasters/slideMaster1.xml" Id="Re9eceead45c746f7" /><Relationship Type="http://schemas.openxmlformats.org/officeDocument/2006/relationships/notesMaster" Target="/ppt/notesMasters/notesMaster1.xml" Id="Rf3da50948b904761" /><Relationship Type="http://schemas.openxmlformats.org/officeDocument/2006/relationships/presProps" Target="/ppt/presProps.xml" Id="Rf011ef00a8c348a5" /><Relationship Type="http://schemas.openxmlformats.org/officeDocument/2006/relationships/tableStyles" Target="/ppt/tableStyles.xml" Id="R2ce76eb1ff6a4918" /><Relationship Type="http://schemas.openxmlformats.org/officeDocument/2006/relationships/slide" Target="/ppt/slides/slide1.xml" Id="R6b76a186350e47b3" /><Relationship Type="http://schemas.openxmlformats.org/officeDocument/2006/relationships/slide" Target="/ppt/slides/slide2.xml" Id="Rc82c592994b545f7" /><Relationship Type="http://schemas.openxmlformats.org/officeDocument/2006/relationships/slide" Target="/ppt/slides/slide3.xml" Id="Ref33a1753ed844e0" /><Relationship Type="http://schemas.openxmlformats.org/officeDocument/2006/relationships/slide" Target="/ppt/slides/slide4.xml" Id="R43f3ffaf00aa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c80f4d336f4c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dba2cc1ed404f" /><Relationship Type="http://schemas.openxmlformats.org/officeDocument/2006/relationships/notesMaster" Target="/ppt/notesMasters/notesMaster1.xml" Id="R269df04bd44247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f6c648f09546a8" /><Relationship Type="http://schemas.openxmlformats.org/officeDocument/2006/relationships/notesMaster" Target="/ppt/notesMasters/notesMaster1.xml" Id="Rd5c81ff97cef48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fa2787d7bc4e40" /><Relationship Type="http://schemas.openxmlformats.org/officeDocument/2006/relationships/notesMaster" Target="/ppt/notesMasters/notesMaster1.xml" Id="Rab47ea13cce44e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81b04a2f514d0a" /><Relationship Type="http://schemas.openxmlformats.org/officeDocument/2006/relationships/notesMaster" Target="/ppt/notesMasters/notesMaster1.xml" Id="R138c796b9449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es el punto de venta central: no se elimina la IA, se la ubica en el lugar correcto.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diseño, validación y ejecución.</a:t>
            </a:r>
          </a:p>
          <a:p xmlns:a="http://schemas.openxmlformats.org/drawingml/2006/main">
            <a:r>
              <a:t>- pyproject.toml y src/rule_interpreter/ — ejecución local sin dependencia de un modelo de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DSL no contiene SQL interpolado ni Python ejecutable.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arquitectura propuesta y representación intermedia.</a:t>
            </a:r>
          </a:p>
          <a:p xmlns:a="http://schemas.openxmlformats.org/drawingml/2006/main">
            <a:r>
              <a:t>- src/rule_interpreter/parsers/ y src/rule_interpreter/executors/ —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que el JSON es un contrato de despliegue, revisión y auditoría.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catálogo, envelope DSL y plan relacional.</a:t>
            </a:r>
          </a:p>
          <a:p xmlns:a="http://schemas.openxmlformats.org/drawingml/2006/main">
            <a:r>
              <a:t>- src/rule_interpreter/dsl.py — versión e integridad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hash actual detecta modificaciones; la firma criptográfica de producción está en la hoja de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validación, seguridad y no objetivos.</a:t>
            </a:r>
          </a:p>
          <a:p xmlns:a="http://schemas.openxmlformats.org/drawingml/2006/main">
            <a:r>
              <a:t>- tests/test_sql_pipeline.py, tests/test_python_pipeline.py y tests/test_pyspark_pipeline.py — rechazo de entradas no permitidas.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696628a7c48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76f9e7c0ba44a6" /><Relationship Type="http://schemas.openxmlformats.org/officeDocument/2006/relationships/slideLayout" Target="/ppt/slideLayouts/slideLayout1.xml" Id="Rdf32ac77bb20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2ac77bb20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f9f0457b849e6" /><Relationship Type="http://schemas.openxmlformats.org/officeDocument/2006/relationships/notesSlide" Target="/ppt/notesSlides/notesSlide1.xml" Id="R6ab36c285487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dcd3c54df47a2" /><Relationship Type="http://schemas.openxmlformats.org/officeDocument/2006/relationships/notesSlide" Target="/ppt/notesSlides/notesSlide2.xml" Id="R5eb00552c51e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d05103ccc4e6b" /><Relationship Type="http://schemas.openxmlformats.org/officeDocument/2006/relationships/notesSlide" Target="/ppt/notesSlides/notesSlide3.xml" Id="R3711373a69004f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a019a4b374164" /><Relationship Type="http://schemas.openxmlformats.org/officeDocument/2006/relationships/notesSlide" Target="/ppt/notesSlides/notesSlide4.xml" Id="R46921ff0d95c46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10437BF8-E79A-419D-AC0B-415271A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alternativa determinística gana donde importa</a:t>
            </a:r>
          </a:p>
        </p:txBody>
      </p:sp>
      <p:cxnSp>
        <p:nvCxnSpPr>
          <p:cNvPr id="22" name="rule-3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A128AAE-3ED2-4ADB-99B9-465B90C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4C2844C1-B3D4-49D4-863F-EE13E3EF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AGENTE EN PRODUCCIÓN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49A84052-03EF-49A2-AE58-1E4CC7D1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COMPILADOR + DSL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C7513969-60F6-4EE3-A951-254E1D14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143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E8B4BA"/>
            </a:solidFill>
            <a:prstDash val="solid"/>
          </a:ln>
        </p:spPr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68706412-76B6-4C4A-94B7-AB6D8637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143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A9D7BE"/>
            </a:solidFill>
            <a:prstDash val="solid"/>
          </a:ln>
        </p:spPr>
      </p:sp>
      <p:sp>
        <p:nvSpPr>
          <p:cNvPr id="8" name="l-0">
            <a:extLst xmlns:a="http://schemas.openxmlformats.org/drawingml/2006/main">
              <a:ext uri="{FF2B5EF4-FFF2-40B4-BE49-F238E27FC236}">
                <a16:creationId xmlns:a16="http://schemas.microsoft.com/office/drawing/2014/main" id="{6820389B-EF2C-4913-BCC7-D72DE7CE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×  Interpreta en tiempo de ejecución</a:t>
            </a:r>
          </a:p>
        </p:txBody>
      </p:sp>
      <p:sp>
        <p:nvSpPr>
          <p:cNvPr id="9" name="l-1">
            <a:extLst xmlns:a="http://schemas.openxmlformats.org/drawingml/2006/main">
              <a:ext uri="{FF2B5EF4-FFF2-40B4-BE49-F238E27FC236}">
                <a16:creationId xmlns:a16="http://schemas.microsoft.com/office/drawing/2014/main" id="{6F69B4EE-CDAA-41F6-B728-36B526A9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×  Salida dependiente del modelo</a:t>
            </a:r>
          </a:p>
        </p:txBody>
      </p:sp>
      <p:sp>
        <p:nvSpPr>
          <p:cNvPr id="10" name="l-2">
            <a:extLst xmlns:a="http://schemas.openxmlformats.org/drawingml/2006/main">
              <a:ext uri="{FF2B5EF4-FFF2-40B4-BE49-F238E27FC236}">
                <a16:creationId xmlns:a16="http://schemas.microsoft.com/office/drawing/2014/main" id="{8684580C-1BCB-4BA5-951C-D61848E7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×  Mayor superficie de validación</a:t>
            </a:r>
          </a:p>
        </p:txBody>
      </p:sp>
      <p:sp>
        <p:nvSpPr>
          <p:cNvPr id="11" name="l-3">
            <a:extLst xmlns:a="http://schemas.openxmlformats.org/drawingml/2006/main">
              <a:ext uri="{FF2B5EF4-FFF2-40B4-BE49-F238E27FC236}">
                <a16:creationId xmlns:a16="http://schemas.microsoft.com/office/drawing/2014/main" id="{07F61F59-9786-4058-854F-1963045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×  Costo recurrente por inferencia</a:t>
            </a:r>
          </a:p>
        </p:txBody>
      </p:sp>
      <p:sp>
        <p:nvSpPr>
          <p:cNvPr id="12" name="l-4">
            <a:extLst xmlns:a="http://schemas.openxmlformats.org/drawingml/2006/main">
              <a:ext uri="{FF2B5EF4-FFF2-40B4-BE49-F238E27FC236}">
                <a16:creationId xmlns:a16="http://schemas.microsoft.com/office/drawing/2014/main" id="{9E444FF5-A745-4D2C-80E1-7E25F4CF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×  Explicación difícil de reproducir</a:t>
            </a:r>
          </a:p>
        </p:txBody>
      </p:sp>
      <p:sp>
        <p:nvSpPr>
          <p:cNvPr id="13" name="r-0">
            <a:extLst xmlns:a="http://schemas.openxmlformats.org/drawingml/2006/main">
              <a:ext uri="{FF2B5EF4-FFF2-40B4-BE49-F238E27FC236}">
                <a16:creationId xmlns:a16="http://schemas.microsoft.com/office/drawing/2014/main" id="{64A97130-B120-485F-B8A5-39EECC1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✓  Compila antes de publicar</a:t>
            </a:r>
          </a:p>
        </p:txBody>
      </p:sp>
      <p:sp>
        <p:nvSpPr>
          <p:cNvPr id="14" name="r-1">
            <a:extLst xmlns:a="http://schemas.openxmlformats.org/drawingml/2006/main">
              <a:ext uri="{FF2B5EF4-FFF2-40B4-BE49-F238E27FC236}">
                <a16:creationId xmlns:a16="http://schemas.microsoft.com/office/drawing/2014/main" id="{2ED6340E-BC9B-4EEE-852D-D42BFED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✓  Salida definida por semántica versionada</a:t>
            </a:r>
          </a:p>
        </p:txBody>
      </p:sp>
      <p:sp>
        <p:nvSpPr>
          <p:cNvPr id="15" name="r-2">
            <a:extLst xmlns:a="http://schemas.openxmlformats.org/drawingml/2006/main">
              <a:ext uri="{FF2B5EF4-FFF2-40B4-BE49-F238E27FC236}">
                <a16:creationId xmlns:a16="http://schemas.microsoft.com/office/drawing/2014/main" id="{189B8CEE-CC62-4EEB-8366-450FB73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✓  Lista explícita de operaciones</a:t>
            </a:r>
          </a:p>
        </p:txBody>
      </p:sp>
      <p:sp>
        <p:nvSpPr>
          <p:cNvPr id="16" name="r-3">
            <a:extLst xmlns:a="http://schemas.openxmlformats.org/drawingml/2006/main">
              <a:ext uri="{FF2B5EF4-FFF2-40B4-BE49-F238E27FC236}">
                <a16:creationId xmlns:a16="http://schemas.microsoft.com/office/drawing/2014/main" id="{F15DFB85-45D0-40F9-A23D-403DDA1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✓  Ejecución local en motores existentes</a:t>
            </a:r>
          </a:p>
        </p:txBody>
      </p:sp>
      <p:sp>
        <p:nvSpPr>
          <p:cNvPr id="17" name="r-4">
            <a:extLst xmlns:a="http://schemas.openxmlformats.org/drawingml/2006/main">
              <a:ext uri="{FF2B5EF4-FFF2-40B4-BE49-F238E27FC236}">
                <a16:creationId xmlns:a16="http://schemas.microsoft.com/office/drawing/2014/main" id="{179D6E42-EAFA-4E57-9F03-50EF690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00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✓  Artefacto inspeccionable y auditable</a:t>
            </a:r>
          </a:p>
        </p:txBody>
      </p:sp>
      <p:sp>
        <p:nvSpPr>
          <p:cNvPr id="18" name="decision">
            <a:extLst xmlns:a="http://schemas.openxmlformats.org/drawingml/2006/main">
              <a:ext uri="{FF2B5EF4-FFF2-40B4-BE49-F238E27FC236}">
                <a16:creationId xmlns:a16="http://schemas.microsoft.com/office/drawing/2014/main" id="{BC45AC53-90AE-4DF4-A56A-5C3E8AC1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Recomendación: usar IA para acelerar la autoría; usar DSL para gobernar la producción.</a:t>
            </a:r>
          </a:p>
        </p:txBody>
      </p:sp>
    </p:spTree>
    <p:extLst>
      <p:ext uri="{BB962C8B-B14F-4D97-AF65-F5344CB8AC3E}">
        <p14:creationId xmlns:p14="http://schemas.microsoft.com/office/powerpoint/2010/main" val="1679891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BEF3C1CF-D57C-47D4-A0F1-56EFE58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89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arquitectura convierte código en un contrato controlado</a:t>
            </a:r>
          </a:p>
        </p:txBody>
      </p:sp>
      <p:cxnSp>
        <p:nvCxnSpPr>
          <p:cNvPr id="25" name="rule-4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BCB5E43-30E5-4563-AB71-48B7B10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9D804BB6-20CE-434F-A526-4B2F378F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5C9C648F-D2ED-45CE-B8BA-2C20A73D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1E2256DB-64D0-43FE-81B4-0EAA961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B86E1869-DF84-4B9B-99AE-2711246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36364C0A-A323-4FFF-980B-1CD2B14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node-text-0">
            <a:extLst xmlns:a="http://schemas.openxmlformats.org/drawingml/2006/main">
              <a:ext uri="{FF2B5EF4-FFF2-40B4-BE49-F238E27FC236}">
                <a16:creationId xmlns:a16="http://schemas.microsoft.com/office/drawing/2014/main" id="{7AC11F74-1A6A-49C2-B4BF-D524E78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SQL 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PySpark</a:t>
            </a:r>
          </a:p>
        </p:txBody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B2A30E50-F18B-4A6C-BF3B-8E51735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node-text-1">
            <a:extLst xmlns:a="http://schemas.openxmlformats.org/drawingml/2006/main">
              <a:ext uri="{FF2B5EF4-FFF2-40B4-BE49-F238E27FC236}">
                <a16:creationId xmlns:a16="http://schemas.microsoft.com/office/drawing/2014/main" id="{3BD3EA9E-8674-4405-AF91-5E1EAC30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Parser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seguro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93D16C9B-BFFD-40AD-8EF3-4D8E6E3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text-2">
            <a:extLst xmlns:a="http://schemas.openxmlformats.org/drawingml/2006/main">
              <a:ext uri="{FF2B5EF4-FFF2-40B4-BE49-F238E27FC236}">
                <a16:creationId xmlns:a16="http://schemas.microsoft.com/office/drawing/2014/main" id="{40020330-EDF1-487E-BB8D-C4CFFB53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6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Validador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 políticas</a:t>
            </a:r>
          </a:p>
        </p:txBody>
      </p:sp>
      <p:sp>
        <p:nvSpPr>
          <p:cNvPr id="14" name="node-3">
            <a:extLst xmlns:a="http://schemas.openxmlformats.org/drawingml/2006/main">
              <a:ext uri="{FF2B5EF4-FFF2-40B4-BE49-F238E27FC236}">
                <a16:creationId xmlns:a16="http://schemas.microsoft.com/office/drawing/2014/main" id="{E706F13E-DB54-479D-932C-D8DEF40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node-text-3">
            <a:extLst xmlns:a="http://schemas.openxmlformats.org/drawingml/2006/main">
              <a:ext uri="{FF2B5EF4-FFF2-40B4-BE49-F238E27FC236}">
                <a16:creationId xmlns:a16="http://schemas.microsoft.com/office/drawing/2014/main" id="{313B2142-240C-4A17-8BD9-7A50CF41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DSL JSON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versionado</a:t>
            </a:r>
          </a:p>
        </p:txBody>
      </p:sp>
      <p:sp>
        <p:nvSpPr>
          <p:cNvPr id="16" name="node-4">
            <a:extLst xmlns:a="http://schemas.openxmlformats.org/drawingml/2006/main">
              <a:ext uri="{FF2B5EF4-FFF2-40B4-BE49-F238E27FC236}">
                <a16:creationId xmlns:a16="http://schemas.microsoft.com/office/drawing/2014/main" id="{8EA69E74-9936-4122-9397-D5F8B4A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node-text-4">
            <a:extLst xmlns:a="http://schemas.openxmlformats.org/drawingml/2006/main">
              <a:ext uri="{FF2B5EF4-FFF2-40B4-BE49-F238E27FC236}">
                <a16:creationId xmlns:a16="http://schemas.microsoft.com/office/drawing/2014/main" id="{580CDBB2-8328-475B-8997-82B13B86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DuckDB 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Spark</a:t>
            </a:r>
          </a:p>
        </p:txBody>
      </p:sp>
      <p:sp>
        <p:nvSpPr>
          <p:cNvPr id="18" name="control-a">
            <a:extLst xmlns:a="http://schemas.openxmlformats.org/drawingml/2006/main">
              <a:ext uri="{FF2B5EF4-FFF2-40B4-BE49-F238E27FC236}">
                <a16:creationId xmlns:a16="http://schemas.microsoft.com/office/drawing/2014/main" id="{103FDDF0-0497-42C5-8939-1A6CF46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Catálogo lógico</a:t>
            </a:r>
          </a:p>
        </p:txBody>
      </p:sp>
      <p:sp>
        <p:nvSpPr>
          <p:cNvPr id="19" name="control-b">
            <a:extLst xmlns:a="http://schemas.openxmlformats.org/drawingml/2006/main">
              <a:ext uri="{FF2B5EF4-FFF2-40B4-BE49-F238E27FC236}">
                <a16:creationId xmlns:a16="http://schemas.microsoft.com/office/drawing/2014/main" id="{8E6B82E5-70C9-48D9-9FFF-AD7BD571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Tipos y nulos</a:t>
            </a:r>
          </a:p>
        </p:txBody>
      </p:sp>
      <p:sp>
        <p:nvSpPr>
          <p:cNvPr id="20" name="control-c">
            <a:extLst xmlns:a="http://schemas.openxmlformats.org/drawingml/2006/main">
              <a:ext uri="{FF2B5EF4-FFF2-40B4-BE49-F238E27FC236}">
                <a16:creationId xmlns:a16="http://schemas.microsoft.com/office/drawing/2014/main" id="{8D843B19-CCDC-4467-AD75-E9F5F50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Hash de integridad</a:t>
            </a:r>
          </a:p>
        </p:txBody>
      </p:sp>
      <p:sp>
        <p:nvSpPr>
          <p:cNvPr id="21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585A0121-8583-4117-A1C6-017E1ED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código original no llega al ejecutor. Solo llega una estructura validada con operaciones conocidas.</a:t>
            </a:r>
          </a:p>
        </p:txBody>
      </p:sp>
    </p:spTree>
    <p:extLst>
      <p:ext uri="{BB962C8B-B14F-4D97-AF65-F5344CB8AC3E}">
        <p14:creationId xmlns:p14="http://schemas.microsoft.com/office/powerpoint/2010/main" val="191994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743C67E1-635D-4021-AAE9-F683FC90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DSL hace visible cada decisión técnica</a:t>
            </a:r>
          </a:p>
        </p:txBody>
      </p:sp>
      <p:cxnSp>
        <p:nvCxnSpPr>
          <p:cNvPr id="32" name="rule-5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84E9DA9-E4A3-472F-AA38-770FD4D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json-panel">
            <a:extLst xmlns:a="http://schemas.openxmlformats.org/drawingml/2006/main">
              <a:ext uri="{FF2B5EF4-FFF2-40B4-BE49-F238E27FC236}">
                <a16:creationId xmlns:a16="http://schemas.microsoft.com/office/drawing/2014/main" id="{E7D58C45-5EB4-4F6E-B7D3-75EFBB4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7150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json">
            <a:extLst xmlns:a="http://schemas.openxmlformats.org/drawingml/2006/main">
              <a:ext uri="{FF2B5EF4-FFF2-40B4-BE49-F238E27FC236}">
                <a16:creationId xmlns:a16="http://schemas.microsoft.com/office/drawing/2014/main" id="{2C0D37E1-7C4D-4B48-BD14-15C67B2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"dsl_version": "1.0",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"inputs": ["clients", "income"],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"plan":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"op": "project",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"input": { "op": "join", ...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"columns": [ ... 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"integrity": { "algorithm": "sha256" 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  <p:sp>
        <p:nvSpPr>
          <p:cNvPr id="6" name="dsl-h-0">
            <a:extLst xmlns:a="http://schemas.openxmlformats.org/drawingml/2006/main">
              <a:ext uri="{FF2B5EF4-FFF2-40B4-BE49-F238E27FC236}">
                <a16:creationId xmlns:a16="http://schemas.microsoft.com/office/drawing/2014/main" id="{7283FDB2-AF0D-4B82-A74D-11C8A8F6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8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Fuentes</a:t>
            </a:r>
          </a:p>
        </p:txBody>
      </p:sp>
      <p:sp>
        <p:nvSpPr>
          <p:cNvPr id="7" name="dsl-b-0">
            <a:extLst xmlns:a="http://schemas.openxmlformats.org/drawingml/2006/main">
              <a:ext uri="{FF2B5EF4-FFF2-40B4-BE49-F238E27FC236}">
                <a16:creationId xmlns:a16="http://schemas.microsoft.com/office/drawing/2014/main" id="{E053354C-DB0A-4364-8B4D-2371033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Nombres lógicos; nunca credenciales ni rutas libres.</a:t>
            </a:r>
          </a:p>
        </p:txBody>
      </p:sp>
      <p:cxnSp>
        <p:nvCxnSpPr>
          <p:cNvPr id="38" name="dsl-line-0"/>
          <p:cNvCxnSpPr/>
          <p:nvPr/>
        </p:nvCxnSpPr>
        <p:spPr>
          <a:xfrm xmlns:a="http://schemas.openxmlformats.org/drawingml/2006/main">
            <a:off x="6610350" y="2495550"/>
            <a:ext cx="499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dsl-h-1">
            <a:extLst xmlns:a="http://schemas.openxmlformats.org/drawingml/2006/main">
              <a:ext uri="{FF2B5EF4-FFF2-40B4-BE49-F238E27FC236}">
                <a16:creationId xmlns:a16="http://schemas.microsoft.com/office/drawing/2014/main" id="{F6DDC174-EA64-48D0-AB8C-CE52579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76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0" name="dsl-b-1">
            <a:extLst xmlns:a="http://schemas.openxmlformats.org/drawingml/2006/main">
              <a:ext uri="{FF2B5EF4-FFF2-40B4-BE49-F238E27FC236}">
                <a16:creationId xmlns:a16="http://schemas.microsoft.com/office/drawing/2014/main" id="{BB8CF394-5F66-49B6-978D-2576071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765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Scan, join, filter, project, sort y limit explícitos.</a:t>
            </a:r>
          </a:p>
        </p:txBody>
      </p:sp>
      <p:cxnSp>
        <p:nvCxnSpPr>
          <p:cNvPr id="41" name="dsl-line-1"/>
          <p:cNvCxnSpPr/>
          <p:nvPr/>
        </p:nvCxnSpPr>
        <p:spPr>
          <a:xfrm xmlns:a="http://schemas.openxmlformats.org/drawingml/2006/main">
            <a:off x="6610350" y="3486150"/>
            <a:ext cx="499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dsl-h-2">
            <a:extLst xmlns:a="http://schemas.openxmlformats.org/drawingml/2006/main">
              <a:ext uri="{FF2B5EF4-FFF2-40B4-BE49-F238E27FC236}">
                <a16:creationId xmlns:a16="http://schemas.microsoft.com/office/drawing/2014/main" id="{93E57C4F-3F14-4030-B13D-582F94C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Semántica</a:t>
            </a:r>
          </a:p>
        </p:txBody>
      </p:sp>
      <p:sp>
        <p:nvSpPr>
          <p:cNvPr id="13" name="dsl-b-2">
            <a:extLst xmlns:a="http://schemas.openxmlformats.org/drawingml/2006/main">
              <a:ext uri="{FF2B5EF4-FFF2-40B4-BE49-F238E27FC236}">
                <a16:creationId xmlns:a16="http://schemas.microsoft.com/office/drawing/2014/main" id="{C4725A3F-4185-44FE-8750-67BC3C4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Tipos, columnas, nulos y funciones permitidas.</a:t>
            </a:r>
          </a:p>
        </p:txBody>
      </p:sp>
      <p:cxnSp>
        <p:nvCxnSpPr>
          <p:cNvPr id="44" name="dsl-line-2"/>
          <p:cNvCxnSpPr/>
          <p:nvPr/>
        </p:nvCxnSpPr>
        <p:spPr>
          <a:xfrm xmlns:a="http://schemas.openxmlformats.org/drawingml/2006/main">
            <a:off x="6610350" y="4476750"/>
            <a:ext cx="499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dsl-h-3">
            <a:extLst xmlns:a="http://schemas.openxmlformats.org/drawingml/2006/main">
              <a:ext uri="{FF2B5EF4-FFF2-40B4-BE49-F238E27FC236}">
                <a16:creationId xmlns:a16="http://schemas.microsoft.com/office/drawing/2014/main" id="{FFFC8E7B-B843-4032-84A9-28F839D2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57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Integridad</a:t>
            </a:r>
          </a:p>
        </p:txBody>
      </p:sp>
      <p:sp>
        <p:nvSpPr>
          <p:cNvPr id="16" name="dsl-b-3">
            <a:extLst xmlns:a="http://schemas.openxmlformats.org/drawingml/2006/main">
              <a:ext uri="{FF2B5EF4-FFF2-40B4-BE49-F238E27FC236}">
                <a16:creationId xmlns:a16="http://schemas.microsoft.com/office/drawing/2014/main" id="{05E841B6-7FC1-4791-B9D8-BAD7E93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577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Una modificación invalida el artefacto.</a:t>
            </a:r>
          </a:p>
        </p:txBody>
      </p:sp>
    </p:spTree>
    <p:extLst>
      <p:ext uri="{BB962C8B-B14F-4D97-AF65-F5344CB8AC3E}">
        <p14:creationId xmlns:p14="http://schemas.microsoft.com/office/powerpoint/2010/main" val="1322210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E935D438-217B-4E48-9A56-F354123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control se diseña antes de ejecutar</a:t>
            </a:r>
          </a:p>
        </p:txBody>
      </p:sp>
      <p:cxnSp>
        <p:nvCxnSpPr>
          <p:cNvPr id="40" name="rule-7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0CEA1395-B382-4549-B5B5-D78AE414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sec-num-0">
            <a:extLst xmlns:a="http://schemas.openxmlformats.org/drawingml/2006/main">
              <a:ext uri="{FF2B5EF4-FFF2-40B4-BE49-F238E27FC236}">
                <a16:creationId xmlns:a16="http://schemas.microsoft.com/office/drawing/2014/main" id="{063A270B-4A0E-4D44-8551-B4D79135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sec-head-0">
            <a:extLst xmlns:a="http://schemas.openxmlformats.org/drawingml/2006/main">
              <a:ext uri="{FF2B5EF4-FFF2-40B4-BE49-F238E27FC236}">
                <a16:creationId xmlns:a16="http://schemas.microsoft.com/office/drawing/2014/main" id="{DD130817-2FC8-4595-A988-045406D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Sintaxis permitida</a:t>
            </a:r>
          </a:p>
        </p:txBody>
      </p:sp>
      <p:sp>
        <p:nvSpPr>
          <p:cNvPr id="6" name="sec-body-0">
            <a:extLst xmlns:a="http://schemas.openxmlformats.org/drawingml/2006/main">
              <a:ext uri="{FF2B5EF4-FFF2-40B4-BE49-F238E27FC236}">
                <a16:creationId xmlns:a16="http://schemas.microsoft.com/office/drawing/2014/main" id="{9D284E7B-35B4-4482-AA3B-5692955E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288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Sin imports, DDL, DML ni Python arbitrario.</a:t>
            </a:r>
          </a:p>
        </p:txBody>
      </p:sp>
      <p:cxnSp>
        <p:nvCxnSpPr>
          <p:cNvPr id="45" name="sec-line-0"/>
          <p:cNvCxnSpPr/>
          <p:nvPr/>
        </p:nvCxnSpPr>
        <p:spPr>
          <a:xfrm xmlns:a="http://schemas.openxmlformats.org/drawingml/2006/main">
            <a:off x="400050" y="32575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ec-num-1">
            <a:extLst xmlns:a="http://schemas.openxmlformats.org/drawingml/2006/main">
              <a:ext uri="{FF2B5EF4-FFF2-40B4-BE49-F238E27FC236}">
                <a16:creationId xmlns:a16="http://schemas.microsoft.com/office/drawing/2014/main" id="{F0405238-92EB-403C-BE47-B21FED4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sec-head-1">
            <a:extLst xmlns:a="http://schemas.openxmlformats.org/drawingml/2006/main">
              <a:ext uri="{FF2B5EF4-FFF2-40B4-BE49-F238E27FC236}">
                <a16:creationId xmlns:a16="http://schemas.microsoft.com/office/drawing/2014/main" id="{091A5DC2-DCA2-4EDD-8761-244956BA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Datos permitidos</a:t>
            </a:r>
          </a:p>
        </p:txBody>
      </p:sp>
      <p:sp>
        <p:nvSpPr>
          <p:cNvPr id="10" name="sec-body-1">
            <a:extLst xmlns:a="http://schemas.openxmlformats.org/drawingml/2006/main">
              <a:ext uri="{FF2B5EF4-FFF2-40B4-BE49-F238E27FC236}">
                <a16:creationId xmlns:a16="http://schemas.microsoft.com/office/drawing/2014/main" id="{0AB4C4AB-CD53-44D8-B0AF-3287B26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288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Fuentes y columnas registradas en catálogo.</a:t>
            </a:r>
          </a:p>
        </p:txBody>
      </p:sp>
      <p:cxnSp>
        <p:nvCxnSpPr>
          <p:cNvPr id="49" name="sec-line-1"/>
          <p:cNvCxnSpPr/>
          <p:nvPr/>
        </p:nvCxnSpPr>
        <p:spPr>
          <a:xfrm xmlns:a="http://schemas.openxmlformats.org/drawingml/2006/main">
            <a:off x="6267450" y="32575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ec-num-2">
            <a:extLst xmlns:a="http://schemas.openxmlformats.org/drawingml/2006/main">
              <a:ext uri="{FF2B5EF4-FFF2-40B4-BE49-F238E27FC236}">
                <a16:creationId xmlns:a16="http://schemas.microsoft.com/office/drawing/2014/main" id="{DA5E9DF6-E19F-4D33-8BE8-9561E27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sec-head-2">
            <a:extLst xmlns:a="http://schemas.openxmlformats.org/drawingml/2006/main">
              <a:ext uri="{FF2B5EF4-FFF2-40B4-BE49-F238E27FC236}">
                <a16:creationId xmlns:a16="http://schemas.microsoft.com/office/drawing/2014/main" id="{FC47034E-3BDE-493B-A90E-25F14752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Semántica estable</a:t>
            </a:r>
          </a:p>
        </p:txBody>
      </p:sp>
      <p:sp>
        <p:nvSpPr>
          <p:cNvPr id="14" name="sec-body-2">
            <a:extLst xmlns:a="http://schemas.openxmlformats.org/drawingml/2006/main">
              <a:ext uri="{FF2B5EF4-FFF2-40B4-BE49-F238E27FC236}">
                <a16:creationId xmlns:a16="http://schemas.microsoft.com/office/drawing/2014/main" id="{5B181442-83C1-4EC1-B401-A8E92A1E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Tipos, nulos y funciones definidos en el IR.</a:t>
            </a:r>
          </a:p>
        </p:txBody>
      </p:sp>
      <p:cxnSp>
        <p:nvCxnSpPr>
          <p:cNvPr id="53" name="sec-line-2"/>
          <p:cNvCxnSpPr/>
          <p:nvPr/>
        </p:nvCxnSpPr>
        <p:spPr>
          <a:xfrm xmlns:a="http://schemas.openxmlformats.org/drawingml/2006/main">
            <a:off x="400050" y="54483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sec-num-3">
            <a:extLst xmlns:a="http://schemas.openxmlformats.org/drawingml/2006/main">
              <a:ext uri="{FF2B5EF4-FFF2-40B4-BE49-F238E27FC236}">
                <a16:creationId xmlns:a16="http://schemas.microsoft.com/office/drawing/2014/main" id="{EF620D10-ED10-4136-B134-1445280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ec-head-3">
            <a:extLst xmlns:a="http://schemas.openxmlformats.org/drawingml/2006/main">
              <a:ext uri="{FF2B5EF4-FFF2-40B4-BE49-F238E27FC236}">
                <a16:creationId xmlns:a16="http://schemas.microsoft.com/office/drawing/2014/main" id="{E87D181D-3E98-4CC3-BBF3-11CB43E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Artefacto verificable</a:t>
            </a:r>
          </a:p>
        </p:txBody>
      </p:sp>
      <p:sp>
        <p:nvSpPr>
          <p:cNvPr id="18" name="sec-body-3">
            <a:extLst xmlns:a="http://schemas.openxmlformats.org/drawingml/2006/main">
              <a:ext uri="{FF2B5EF4-FFF2-40B4-BE49-F238E27FC236}">
                <a16:creationId xmlns:a16="http://schemas.microsoft.com/office/drawing/2014/main" id="{E51DF2C0-D4B5-4454-A117-E2A4F60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Versión, esquema de salida y hash de integridad.</a:t>
            </a:r>
          </a:p>
        </p:txBody>
      </p:sp>
      <p:cxnSp>
        <p:nvCxnSpPr>
          <p:cNvPr id="57" name="sec-line-3"/>
          <p:cNvCxnSpPr/>
          <p:nvPr/>
        </p:nvCxnSpPr>
        <p:spPr>
          <a:xfrm xmlns:a="http://schemas.openxmlformats.org/drawingml/2006/main">
            <a:off x="6267450" y="54483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33405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2026-08-19T12:27:03.2740000Z</dcterms:created>
  <dcterms:modified xsi:type="dcterms:W3CDTF">2026-08-19T12:27:03.2750000Z</dcterms:modified>
</coreProperties>
</file>